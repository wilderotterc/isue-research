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1" d="100"/>
          <a:sy n="31" d="100"/>
        </p:scale>
        <p:origin x="508" y="-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2AB255-5DA1-40D2-B961-324BC457DB4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646280" y="879480"/>
            <a:ext cx="29625840" cy="365760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anchor="ctr">
            <a:noAutofit/>
          </a:bodyPr>
          <a:lstStyle/>
          <a:p>
            <a:pPr indent="0" algn="ctr">
              <a:buNone/>
              <a:tabLst>
                <a:tab pos="0" algn="l"/>
                <a:tab pos="3133800" algn="l"/>
                <a:tab pos="6267600" algn="l"/>
                <a:tab pos="9401040" algn="l"/>
              </a:tabLst>
            </a:pPr>
            <a:r>
              <a:rPr lang="en-US" sz="151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646280" y="5121360"/>
            <a:ext cx="29625840" cy="1448280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anchor="t">
            <a:normAutofit/>
          </a:bodyPr>
          <a:lstStyle/>
          <a:p>
            <a:pPr marL="1174680" indent="-1174680">
              <a:spcBef>
                <a:spcPts val="2750"/>
              </a:spcBef>
              <a:buClr>
                <a:srgbClr val="000000"/>
              </a:buClr>
              <a:buFont typeface="Arial"/>
              <a:buChar char="•"/>
              <a:tabLst>
                <a:tab pos="3133800" algn="l"/>
                <a:tab pos="6267600" algn="l"/>
                <a:tab pos="9401040" algn="l"/>
              </a:tabLst>
            </a:pPr>
            <a:r>
              <a:rPr lang="en-US" sz="110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2546280" lvl="1" indent="-979560">
              <a:spcBef>
                <a:spcPts val="2750"/>
              </a:spcBef>
              <a:buClr>
                <a:srgbClr val="000000"/>
              </a:buClr>
              <a:buFont typeface="Arial"/>
              <a:buChar char="–"/>
              <a:tabLst>
                <a:tab pos="3133800" algn="l"/>
                <a:tab pos="6267600" algn="l"/>
                <a:tab pos="9401040" algn="l"/>
              </a:tabLst>
            </a:pPr>
            <a:r>
              <a:rPr lang="en-US" sz="11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3917880" lvl="2" indent="-782640">
              <a:spcBef>
                <a:spcPts val="2750"/>
              </a:spcBef>
              <a:buClr>
                <a:srgbClr val="000000"/>
              </a:buClr>
              <a:buFont typeface="Arial"/>
              <a:buChar char="•"/>
              <a:tabLst>
                <a:tab pos="3133800" algn="l"/>
                <a:tab pos="6267600" algn="l"/>
                <a:tab pos="9401040" algn="l"/>
              </a:tabLst>
            </a:pPr>
            <a:r>
              <a:rPr lang="en-US" sz="11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5484960" lvl="3" indent="-782640">
              <a:spcBef>
                <a:spcPts val="2750"/>
              </a:spcBef>
              <a:buClr>
                <a:srgbClr val="000000"/>
              </a:buClr>
              <a:buFont typeface="Arial"/>
              <a:buChar char="–"/>
              <a:tabLst>
                <a:tab pos="3133800" algn="l"/>
                <a:tab pos="6267600" algn="l"/>
                <a:tab pos="9401040" algn="l"/>
              </a:tabLst>
            </a:pPr>
            <a:r>
              <a:rPr lang="en-US" sz="11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7053120" lvl="4" indent="-782640">
              <a:spcBef>
                <a:spcPts val="2750"/>
              </a:spcBef>
              <a:buClr>
                <a:srgbClr val="000000"/>
              </a:buClr>
              <a:buFont typeface="Arial"/>
              <a:buChar char="»"/>
              <a:tabLst>
                <a:tab pos="3133800" algn="l"/>
                <a:tab pos="6267600" algn="l"/>
                <a:tab pos="9401040" algn="l"/>
              </a:tabLst>
            </a:pPr>
            <a:r>
              <a:rPr lang="en-US" sz="11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7053120" lvl="5" indent="-782640">
              <a:spcBef>
                <a:spcPts val="2750"/>
              </a:spcBef>
              <a:buClr>
                <a:srgbClr val="000000"/>
              </a:buClr>
              <a:buFont typeface="Arial"/>
              <a:buChar char="»"/>
              <a:tabLst>
                <a:tab pos="3133800" algn="l"/>
                <a:tab pos="6267600" algn="l"/>
                <a:tab pos="9401040" algn="l"/>
              </a:tabLst>
            </a:pPr>
            <a:r>
              <a:rPr lang="en-US" sz="11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7053120" lvl="6" indent="-782640">
              <a:spcBef>
                <a:spcPts val="2750"/>
              </a:spcBef>
              <a:buClr>
                <a:srgbClr val="000000"/>
              </a:buClr>
              <a:buFont typeface="Arial"/>
              <a:buChar char="»"/>
              <a:tabLst>
                <a:tab pos="3133800" algn="l"/>
                <a:tab pos="6267600" algn="l"/>
                <a:tab pos="9401040" algn="l"/>
              </a:tabLst>
            </a:pPr>
            <a:r>
              <a:rPr lang="en-US" sz="11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646280" y="20340360"/>
            <a:ext cx="7680240" cy="116820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anchor="ctr">
            <a:noAutofit/>
          </a:bodyPr>
          <a:lstStyle>
            <a:lvl1pPr indent="0">
              <a:buNone/>
              <a:tabLst>
                <a:tab pos="0" algn="l"/>
                <a:tab pos="3133800" algn="l"/>
                <a:tab pos="6267600" algn="l"/>
                <a:tab pos="9401040" algn="l"/>
              </a:tabLst>
              <a:defRPr lang="en-US" sz="41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buNone/>
              <a:tabLst>
                <a:tab pos="0" algn="l"/>
                <a:tab pos="3133800" algn="l"/>
                <a:tab pos="6267600" algn="l"/>
                <a:tab pos="9401040" algn="l"/>
              </a:tabLst>
            </a:pPr>
            <a:r>
              <a:rPr lang="en-US" sz="4100" b="0" strike="noStrike" spc="-1">
                <a:solidFill>
                  <a:srgbClr val="898989"/>
                </a:solidFill>
                <a:latin typeface="Calibri"/>
              </a:rPr>
              <a:t>&lt;date/time&gt;</a:t>
            </a:r>
            <a:endParaRPr lang="en-US" sz="4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11247480" y="20340360"/>
            <a:ext cx="10423440" cy="116820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anchor="ctr">
            <a:noAutofit/>
          </a:bodyPr>
          <a:lstStyle/>
          <a:p>
            <a:pPr indent="0">
              <a:buNone/>
              <a:tabLst>
                <a:tab pos="0" algn="l"/>
                <a:tab pos="3133800" algn="l"/>
                <a:tab pos="6267600" algn="l"/>
                <a:tab pos="9401040" algn="l"/>
              </a:tabLst>
            </a:pPr>
            <a:endParaRPr lang="en-US" sz="6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23591880" y="20340360"/>
            <a:ext cx="7680240" cy="116820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anchor="ctr">
            <a:noAutofit/>
          </a:bodyPr>
          <a:lstStyle>
            <a:lvl1pPr indent="0" algn="r">
              <a:buNone/>
              <a:tabLst>
                <a:tab pos="0" algn="l"/>
                <a:tab pos="3133800" algn="l"/>
                <a:tab pos="6267600" algn="l"/>
                <a:tab pos="9401040" algn="l"/>
              </a:tabLst>
              <a:defRPr lang="en-US" sz="41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buNone/>
              <a:tabLst>
                <a:tab pos="0" algn="l"/>
                <a:tab pos="3133800" algn="l"/>
                <a:tab pos="6267600" algn="l"/>
                <a:tab pos="9401040" algn="l"/>
              </a:tabLst>
            </a:pPr>
            <a:fld id="{CD214B43-6860-40C3-9C93-831E0469FA9F}" type="slidenum">
              <a:rPr lang="en-US" sz="41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4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3581280" y="230000"/>
            <a:ext cx="25603200" cy="1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/>
            <a:r>
              <a:rPr lang="en-US" sz="4800" b="1" strike="noStrike" spc="-1">
                <a:solidFill>
                  <a:srgbClr val="000000"/>
                </a:solidFill>
                <a:latin typeface="Calibri"/>
              </a:rPr>
              <a:t>Evaluating Multi-Document RAG for Student Financial Aid Guidance: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  <a:p>
            <a:pPr algn="ctr"/>
            <a:r>
              <a:rPr lang="en-US" sz="4800" b="1" strike="noStrike" spc="-1">
                <a:solidFill>
                  <a:srgbClr val="000000"/>
                </a:solidFill>
                <a:latin typeface="Calibri"/>
              </a:rPr>
              <a:t>Authority Confusion, Temporal Confusion, and the Limits of Faithfulness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Authors"/>
          <p:cNvSpPr/>
          <p:nvPr/>
        </p:nvSpPr>
        <p:spPr>
          <a:xfrm>
            <a:off x="3052800" y="2050000"/>
            <a:ext cx="2613168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/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Caleb Wilderotter,  Malihe Aliasgari (Advisor)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Affiliation"/>
          <p:cNvSpPr/>
          <p:nvPr/>
        </p:nvSpPr>
        <p:spPr>
          <a:xfrm>
            <a:off x="3052800" y="2800000"/>
            <a:ext cx="26131680" cy="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Department of Mathematics, Kean University</a:t>
            </a:r>
          </a:p>
        </p:txBody>
      </p:sp>
      <p:sp>
        <p:nvSpPr>
          <p:cNvPr id="15" name="Header Introduction"/>
          <p:cNvSpPr/>
          <p:nvPr/>
        </p:nvSpPr>
        <p:spPr>
          <a:xfrm>
            <a:off x="843120" y="3726000"/>
            <a:ext cx="10053360" cy="70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/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Introduction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Header Methods and Materials"/>
          <p:cNvSpPr/>
          <p:nvPr/>
        </p:nvSpPr>
        <p:spPr>
          <a:xfrm>
            <a:off x="843120" y="11996560"/>
            <a:ext cx="10053360" cy="70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/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Methods and Materials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Header Results"/>
          <p:cNvSpPr/>
          <p:nvPr/>
        </p:nvSpPr>
        <p:spPr>
          <a:xfrm>
            <a:off x="11729880" y="3726000"/>
            <a:ext cx="10052280" cy="70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/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Results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Header Conclusions"/>
          <p:cNvSpPr/>
          <p:nvPr/>
        </p:nvSpPr>
        <p:spPr>
          <a:xfrm>
            <a:off x="22421880" y="3726000"/>
            <a:ext cx="10053720" cy="70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/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Conclusions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Header References"/>
          <p:cNvSpPr/>
          <p:nvPr/>
        </p:nvSpPr>
        <p:spPr>
          <a:xfrm>
            <a:off x="22580640" y="18219600"/>
            <a:ext cx="10051920" cy="70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/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References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Intro Body"/>
          <p:cNvSpPr/>
          <p:nvPr/>
        </p:nvSpPr>
        <p:spPr>
          <a:xfrm>
            <a:off x="898560" y="4549680"/>
            <a:ext cx="10032840" cy="6496267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LLMs deployed for financial aid guidance can give fluent but wrong or outdated answers, with real consequences for first-generation and low-income students.</a:t>
            </a:r>
          </a:p>
          <a:p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The FAFSA Simplification Act replaced the EFC with the Student Aid Index for 2024–25, and universities layer stricter rules (e.g., 80% credit completion vs. a 67% federal floor) on top of federal policy.</a:t>
            </a:r>
          </a:p>
          <a:p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A Day-1 audit showed a bare LLM answered 6 of 10 questions correctly but could not distinguish current policy from memorized, superseded rules.</a:t>
            </a:r>
          </a:p>
          <a:p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600" b="1" strike="noStrike" spc="-1" dirty="0">
                <a:solidFill>
                  <a:srgbClr val="000000"/>
                </a:solidFill>
                <a:latin typeface="Calibri"/>
              </a:rPr>
              <a:t>RQ1: 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Does RAG improve correctness and grounding over baseline?</a:t>
            </a:r>
          </a:p>
          <a:p>
            <a:r>
              <a:rPr lang="en-US" sz="2600" b="1" strike="noStrike" spc="-1" dirty="0">
                <a:solidFill>
                  <a:srgbClr val="000000"/>
                </a:solidFill>
                <a:latin typeface="Calibri"/>
              </a:rPr>
              <a:t>RQ2: 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Does correctness degrade as more sources are required?</a:t>
            </a:r>
          </a:p>
          <a:p>
            <a:r>
              <a:rPr lang="en-US" sz="2600" b="1" strike="noStrike" spc="-1" dirty="0">
                <a:solidFill>
                  <a:srgbClr val="000000"/>
                </a:solidFill>
                <a:latin typeface="Calibri"/>
              </a:rPr>
              <a:t>RQ3: 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</a:rPr>
              <a:t>Do conflicting and outdated sources cause errors, and does authority-aware re-ranking help?</a:t>
            </a:r>
          </a:p>
        </p:txBody>
      </p:sp>
      <p:sp>
        <p:nvSpPr>
          <p:cNvPr id="13" name="Methods Body"/>
          <p:cNvSpPr/>
          <p:nvPr/>
        </p:nvSpPr>
        <p:spPr>
          <a:xfrm>
            <a:off x="843120" y="13217236"/>
            <a:ext cx="10080360" cy="6896376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r>
              <a:rPr lang="en-US" sz="2600" b="1" strike="noStrike" spc="-1">
                <a:solidFill>
                  <a:srgbClr val="000000"/>
                </a:solidFill>
                <a:latin typeface="Calibri"/>
              </a:rPr>
              <a:t>Corpus: </a:t>
            </a: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1,641 chunks (400 tokens each) from 71 files across five authority tiers: the 2025–26 and 2024–25 Federal Student Aid Handbooks, studentaid.gov guidance, NASFAA material, and SAP policies from three universities; embedded with all-MiniLM-L6-v2 in ChromaDB.</a:t>
            </a:r>
          </a:p>
          <a:p>
            <a:endParaRPr lang="en-US" sz="2600" b="0" strike="noStrike" spc="-1">
              <a:solidFill>
                <a:srgbClr val="000000"/>
              </a:solidFill>
              <a:latin typeface="Calibri"/>
            </a:endParaRPr>
          </a:p>
          <a:p>
            <a:r>
              <a:rPr lang="en-US" sz="2600" b="1" strike="noStrike" spc="-1">
                <a:solidFill>
                  <a:srgbClr val="000000"/>
                </a:solidFill>
                <a:latin typeface="Calibri"/>
              </a:rPr>
              <a:t>Benchmark: </a:t>
            </a: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55 questions in five categories — single-source (S), two-source (M2), three-or-more-source (M3), contradictory-source (C), and temporal (T) — each annotated with verbatim ground truth.</a:t>
            </a:r>
          </a:p>
          <a:p>
            <a:endParaRPr lang="en-US" sz="2600" b="0" strike="noStrike" spc="-1">
              <a:solidFill>
                <a:srgbClr val="000000"/>
              </a:solidFill>
              <a:latin typeface="Calibri"/>
            </a:endParaRPr>
          </a:p>
          <a:p>
            <a:r>
              <a:rPr lang="en-US" sz="2600" b="1" strike="noStrike" spc="-1">
                <a:solidFill>
                  <a:srgbClr val="000000"/>
                </a:solidFill>
                <a:latin typeface="Calibri"/>
              </a:rPr>
              <a:t>Conditions (165 runs): </a:t>
            </a: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Baseline-LLM (no retrieval), RAG-Standard (top-5 cosine similarity), and RAG-AuthAware (fixed authority + award-year re-ranking); gpt-4o-mini at temperature 0.</a:t>
            </a:r>
          </a:p>
          <a:p>
            <a:endParaRPr lang="en-US" sz="2600" b="0" strike="noStrike" spc="-1">
              <a:solidFill>
                <a:srgbClr val="000000"/>
              </a:solidFill>
              <a:latin typeface="Calibri"/>
            </a:endParaRPr>
          </a:p>
          <a:p>
            <a:r>
              <a:rPr lang="en-US" sz="2600" b="1" strike="noStrike" spc="-1">
                <a:solidFill>
                  <a:srgbClr val="000000"/>
                </a:solidFill>
                <a:latin typeface="Calibri"/>
              </a:rPr>
              <a:t>Metrics: </a:t>
            </a: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automated Faithfulness, human-scored Answer Correctness (0 / 0.5 / 1; Cohen’s κ = 0.887), and Source Authority Accuracy; two-way ANOVA, Bonferroni-corrected paired t-tests, and regression on source count.</a:t>
            </a:r>
          </a:p>
        </p:txBody>
      </p:sp>
      <p:sp>
        <p:nvSpPr>
          <p:cNvPr id="11" name="Results Body"/>
          <p:cNvSpPr/>
          <p:nvPr/>
        </p:nvSpPr>
        <p:spPr>
          <a:xfrm>
            <a:off x="11582280" y="4549680"/>
            <a:ext cx="10347480" cy="5900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RAG beats baseline: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mean Answer Correctness 0.545 (Standard) and 0.509 (AuthAware) vs. 0.255; F(2,150) = 8.87, p &lt; 0.001. The gain is largest on S and M2 and vanishes on C questions (Fig. 2).</a:t>
            </a:r>
          </a:p>
          <a:p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Faithful ≠ correct: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Faithfulness (≈0.93) exceeds correctness by ≈0.40 in both RAG conditions. One fully grounded answer (F = 1.00) was wrong (A = 0) after re-ranking promoted a methodology chunk over the fact-bearing chunk.</a:t>
            </a:r>
          </a:p>
          <a:p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Integration cost: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correctness falls roughly 13–15 points per additional required source (Fig. 3).</a:t>
            </a:r>
          </a:p>
          <a:p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Re-ranking is double-edged: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it resolves temporal conflicts but pushed the correct institutional source down in rank on 2 of 5 contradictory questions.</a:t>
            </a:r>
          </a:p>
        </p:txBody>
      </p:sp>
      <p:pic>
        <p:nvPicPr>
          <p:cNvPr id="30" name="Fig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1918760" y="10569920"/>
            <a:ext cx="9600000" cy="4943000"/>
          </a:xfrm>
          <a:prstGeom prst="rect">
            <a:avLst/>
          </a:prstGeom>
        </p:spPr>
      </p:pic>
      <p:pic>
        <p:nvPicPr>
          <p:cNvPr id="31" name="Fig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1956020" y="15820200"/>
            <a:ext cx="9600000" cy="5934000"/>
          </a:xfrm>
          <a:prstGeom prst="rect">
            <a:avLst/>
          </a:prstGeom>
        </p:spPr>
      </p:pic>
      <p:sp>
        <p:nvSpPr>
          <p:cNvPr id="12" name="Conclusions Body"/>
          <p:cNvSpPr/>
          <p:nvPr/>
        </p:nvSpPr>
        <p:spPr>
          <a:xfrm>
            <a:off x="22506120" y="4506840"/>
            <a:ext cx="9969480" cy="1302113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RQ1: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RAG improves correctness over a no-retrieval baseline, but the gain is category-dependent and disappears entirely on contradictory-source questions, where authority-aware re-ranking underperforms both alternatives.</a:t>
            </a:r>
          </a:p>
          <a:p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RQ2: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correctness declines as required sources rise from one to three in all conditions, steepest for RAG-Standard.</a:t>
            </a:r>
          </a:p>
          <a:p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RQ3: 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re-ranking helps temporal conflicts but suppressed the correct institutional source on contradictory questions — a regression invisible to a presence-only metric.</a:t>
            </a:r>
          </a:p>
          <a:p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Design recommendations: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•  Condition re-ranking on question type</a:t>
            </a:r>
          </a:p>
          <a:p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•  Verify retrieved chunks contain an answerable fact before generation</a:t>
            </a:r>
          </a:p>
          <a:p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•  Check multi-source completeness; prefer “insufficient information” over partial answers</a:t>
            </a:r>
          </a:p>
          <a:p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•  Report rank-sensitive authority metrics (e.g., reciprocal rank)</a:t>
            </a:r>
          </a:p>
          <a:p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Takeaway: faithful retrieval does not guarantee correct answers in high-stakes informational domains.</a:t>
            </a:r>
          </a:p>
          <a:p>
            <a:endParaRPr lang="en-US" sz="2400" b="1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trike="noStrike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trike="noStrike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trike="noStrike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trike="noStrike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trike="noStrike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trike="noStrike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pc="-1" dirty="0">
              <a:solidFill>
                <a:srgbClr val="000000"/>
              </a:solidFill>
              <a:latin typeface="Calibri"/>
            </a:endParaRPr>
          </a:p>
          <a:p>
            <a:endParaRPr lang="en-US" sz="2400" b="1" strike="noStrike" spc="-1" dirty="0">
              <a:solidFill>
                <a:srgbClr val="000000"/>
              </a:solidFill>
              <a:latin typeface="Calibri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2" name="Fig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22907520" y="12700000"/>
            <a:ext cx="9000000" cy="4634000"/>
          </a:xfrm>
          <a:prstGeom prst="rect">
            <a:avLst/>
          </a:prstGeom>
        </p:spPr>
      </p:pic>
      <p:sp>
        <p:nvSpPr>
          <p:cNvPr id="14" name="References Body"/>
          <p:cNvSpPr/>
          <p:nvPr/>
        </p:nvSpPr>
        <p:spPr>
          <a:xfrm>
            <a:off x="22588560" y="19145600"/>
            <a:ext cx="9600000" cy="1941173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[1] Z. Yang et al., “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HotpotQA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,” EMNLP, 2018.</a:t>
            </a:r>
          </a:p>
          <a:p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[2] H. Trivedi et al., “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MuSiQue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,” TACL, 2022.</a:t>
            </a:r>
          </a:p>
          <a:p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[3] P. Lewis et al., “Retrieval-augmented generation for knowledge-intensive NLP tasks,”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NeurIPS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, 2020.</a:t>
            </a:r>
          </a:p>
          <a:p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[4] S. Es et al., “RAGAS: Automated evaluation of retrieval augmented generation,” 2023.</a:t>
            </a:r>
          </a:p>
          <a:p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[5] U.S. Dept. of Education, Federal Student Aid Handbook, 2024–2026.</a:t>
            </a:r>
          </a:p>
        </p:txBody>
      </p:sp>
      <p:pic>
        <p:nvPicPr>
          <p:cNvPr id="2" name="Picture 1" descr="Blue Kansas City University seal featuring a ship and motto within a circular border.">
            <a:extLst>
              <a:ext uri="{FF2B5EF4-FFF2-40B4-BE49-F238E27FC236}">
                <a16:creationId xmlns:a16="http://schemas.microsoft.com/office/drawing/2014/main" id="{23A35B2A-CF3A-934D-5673-472DE6742D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8560" y="290199"/>
            <a:ext cx="3246979" cy="3018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Blue Kansas City University seal featuring a ship and motto within a circular border.">
            <a:extLst>
              <a:ext uri="{FF2B5EF4-FFF2-40B4-BE49-F238E27FC236}">
                <a16:creationId xmlns:a16="http://schemas.microsoft.com/office/drawing/2014/main" id="{1AA723EA-079D-657D-A9BE-D577BB8829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772861" y="290200"/>
            <a:ext cx="3246979" cy="301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684</Words>
  <Application>Microsoft Office PowerPoint</Application>
  <PresentationFormat>Custom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C.J. Wilderotter</dc:creator>
  <cp:lastModifiedBy>C.J. Wilderotter</cp:lastModifiedBy>
  <cp:revision>1</cp:revision>
  <dcterms:modified xsi:type="dcterms:W3CDTF">2026-07-03T21:13:03Z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2013-01-23T15:34:07Z</dcterms:created>
  <dc:creator>Christina Z.  Luna</dc:creator>
  <dc:description/>
  <dc:language>en-US</dc:language>
  <cp:lastModifiedBy>Christina Z.  Luna</cp:lastModifiedBy>
  <dcterms:modified xsi:type="dcterms:W3CDTF">2013-02-26T18:11:49Z</dcterms:modified>
  <cp:revision>8</cp:revision>
  <dc:subject/>
  <dc:title>PowerPoint Presentation</dc:title>
</cp:coreProperties>
</file>