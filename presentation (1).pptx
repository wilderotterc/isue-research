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50" kern="0" dirty="0">
                <a:solidFill>
                  <a:srgbClr val="FFFFFF"/>
                </a:solidFill>
              </a:rPr>
              <a:t>Evaluating Multi-Document RAG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spc="50" kern="0" dirty="0">
                <a:solidFill>
                  <a:srgbClr val="FFFFFF"/>
                </a:solidFill>
              </a:rPr>
              <a:t>for Student Financial Aid Guidance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9E0B"/>
                </a:solidFill>
              </a:rPr>
              <a:t>Authority Confusion · Temporal Confusion · The Limits of Faithfulness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794760"/>
            <a:ext cx="4572000" cy="0"/>
          </a:xfrm>
          <a:prstGeom prst="line">
            <a:avLst/>
          </a:prstGeom>
          <a:noFill/>
          <a:ln w="12700">
            <a:solidFill>
              <a:srgbClr val="4A6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B5CC"/>
                </a:solidFill>
              </a:rPr>
              <a:t>Caleb Wilderotter  ·  Department of Psychology and Statistics  ·  Kean University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Supervised by Dr. Malihe Aliasgari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" y="4480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Motivation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057"/>
                </a:solidFill>
              </a:rPr>
              <a:t>Day 1: A Deceptive Result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4057"/>
                </a:solidFill>
              </a:rPr>
              <a:t>A hallucination audit of 10 financial aid questions against a bare LLM: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50876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00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2C55E"/>
                </a:solidFill>
              </a:rPr>
              <a:t>6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Correct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66160" y="150876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600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</a:rPr>
              <a:t>3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56616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Partial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50876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600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F4444"/>
                </a:solidFill>
              </a:rPr>
              <a:t>1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21792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Wrong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3108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7"/>
                </a:solidFill>
              </a:rPr>
              <a:t>But every correct answer came from a rule that hadn't changed since training.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356616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E4057"/>
                </a:solidFill>
              </a:rPr>
              <a:t>The model couldn't distinguish a current answer from last year's answer.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E4057"/>
                </a:solidFill>
              </a:rPr>
              <a:t>FAFSA Simplification Act replaced EFC → SAI for 2025–26.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E4057"/>
                </a:solidFill>
              </a:rPr>
              <a:t>Universities set stricter rules than federal minimums (e.g., 80% completion vs. federal 67%).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E4057"/>
                </a:solidFill>
              </a:rPr>
              <a:t>A student who trusts the model risks losing aid eligibility.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" y="4480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Failure Modes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057"/>
                </a:solidFill>
              </a:rPr>
              <a:t>Three Ways Financial Aid AI Fails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2743200" cy="384048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 w="25400">
            <a:solidFill>
              <a:srgbClr val="4A6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51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🔗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432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6FA5"/>
                </a:solidFill>
              </a:rPr>
              <a:t>Multi-Source Integration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2377440" cy="0"/>
          </a:xfrm>
          <a:prstGeom prst="line">
            <a:avLst/>
          </a:prstGeom>
          <a:noFill/>
          <a:ln w="12700">
            <a:solidFill>
              <a:srgbClr val="4A6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5146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4057"/>
                </a:solidFill>
              </a:rPr>
              <a:t>Multiple documents must be combined.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E4057"/>
                </a:solidFill>
              </a:rPr>
              <a:t>Each additional source subtracts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E4057"/>
                </a:solidFill>
              </a:rPr>
              <a:t>~13–15 pp of correctness.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960120"/>
            <a:ext cx="2743200" cy="384048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051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4612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Authority Confusion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29000" y="2423160"/>
            <a:ext cx="237744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25146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4057"/>
                </a:solidFill>
              </a:rPr>
              <a:t>Institutional and federal sources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E4057"/>
                </a:solidFill>
              </a:rPr>
              <a:t>legitimately disagree.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E4057"/>
                </a:solidFill>
              </a:rPr>
              <a:t>The system can't tell who to trust.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960120"/>
            <a:ext cx="2743200" cy="384048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051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⏱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21792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Temporal Confusion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2423160"/>
            <a:ext cx="237744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5146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4057"/>
                </a:solidFill>
              </a:rPr>
              <a:t>Correct answer changed between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E4057"/>
                </a:solidFill>
              </a:rPr>
              <a:t>2024–25 and 2025–26.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E4057"/>
                </a:solidFill>
              </a:rPr>
              <a:t>Old rules remain in the index.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These three failure modes motivated the benchmark taxonomy: S · M2 · M3 · C · 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" y="4480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System 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057"/>
                </a:solidFill>
              </a:rPr>
              <a:t>Pipeline: Six Modules, Three Conditions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4A6FA5">
              <a:alpha val="7000"/>
            </a:srgbClr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6FA5"/>
                </a:solidFill>
              </a:rPr>
              <a:t>M1 Indexer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5087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057"/>
                </a:solidFill>
              </a:rPr>
              <a:t>1,641 chunks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E4057"/>
                </a:solidFill>
              </a:rPr>
              <a:t>all-MiniLM-L6-v2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E4057"/>
                </a:solidFill>
              </a:rPr>
              <a:t>ChromaDB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4A6FA5">
              <a:alpha val="7000"/>
            </a:srgbClr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97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6FA5"/>
                </a:solidFill>
              </a:rPr>
              <a:t>M2 Retriever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15087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057"/>
                </a:solidFill>
              </a:rPr>
              <a:t>top-k=5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E4057"/>
                </a:solidFill>
              </a:rPr>
              <a:t>cosine similarity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4A6FA5">
              <a:alpha val="7000"/>
            </a:srgbClr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97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6FA5"/>
                </a:solidFill>
              </a:rPr>
              <a:t>M3 Re-ranker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5087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057"/>
                </a:solidFill>
              </a:rPr>
              <a:t>AuthAware only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E4057"/>
                </a:solidFill>
              </a:rPr>
              <a:t>federal-primary→1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E4057"/>
                </a:solidFill>
              </a:rPr>
              <a:t>outdated→5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4A6FA5">
              <a:alpha val="7000"/>
            </a:srgbClr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260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6FA5"/>
                </a:solidFill>
              </a:rPr>
              <a:t>M4 Prompt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33375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057"/>
                </a:solidFill>
              </a:rPr>
              <a:t>numbered context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E4057"/>
                </a:solidFill>
              </a:rPr>
              <a:t>blocks + instruction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283464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4A6FA5">
              <a:alpha val="7000"/>
            </a:srgbClr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29260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6FA5"/>
                </a:solidFill>
              </a:rPr>
              <a:t>M5 LLM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46120" y="33375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057"/>
                </a:solidFill>
              </a:rPr>
              <a:t>gpt-4o-mini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E4057"/>
                </a:solidFill>
              </a:rPr>
              <a:t>temp=0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283464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4A6FA5">
              <a:alpha val="7000"/>
            </a:srgbClr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9260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6FA5"/>
                </a:solidFill>
              </a:rPr>
              <a:t>M6 Logger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33375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057"/>
                </a:solidFill>
              </a:rPr>
              <a:t>16 fields/row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E4057"/>
                </a:solidFill>
              </a:rPr>
              <a:t>raw_log.csv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17520" y="1828800"/>
            <a:ext cx="228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9320" y="1828800"/>
            <a:ext cx="228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6177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Baseline-LLM (no retrieval)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08960" y="46177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FA5"/>
                </a:solidFill>
              </a:rPr>
              <a:t>RAG-Standard (M1+M2+M4+M5)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46177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B"/>
                </a:solidFill>
              </a:rPr>
              <a:t>RAG-AuthAware (M1+M2+M3+M4+M5)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" y="4480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Results — RQ1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057"/>
                </a:solidFill>
              </a:rPr>
              <a:t>RQ1: Does RAG Improve Correctness?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4057"/>
                </a:solidFill>
              </a:rPr>
              <a:t>Yes — but category matters. The C-category is the critical exception.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2103120" cy="4572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6187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Condition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261872"/>
            <a:ext cx="2103120" cy="4572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26187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Faithfulness (F)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261872"/>
            <a:ext cx="2103120" cy="4572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26187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Correctness (A)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261872"/>
            <a:ext cx="2103120" cy="4572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26187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Source Auth. (S)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737360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7"/>
                </a:solidFill>
              </a:rPr>
              <a:t>Baseline-LLM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468880" y="1737360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46888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7"/>
                </a:solidFill>
              </a:rPr>
              <a:t>0.000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1737360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0.255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0" y="1737360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7"/>
                </a:solidFill>
              </a:rPr>
              <a:t>1.000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2212848"/>
            <a:ext cx="210312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21284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7"/>
                </a:solidFill>
              </a:rPr>
              <a:t>RAG-Standard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468880" y="2212848"/>
            <a:ext cx="210312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2468880" y="221284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7"/>
                </a:solidFill>
              </a:rPr>
              <a:t>0.929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0" y="2212848"/>
            <a:ext cx="210312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221284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FA5"/>
                </a:solidFill>
              </a:rPr>
              <a:t>0.545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675120" y="2212848"/>
            <a:ext cx="210312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221284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7"/>
                </a:solidFill>
              </a:rPr>
              <a:t>0.927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2688336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268833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7"/>
                </a:solidFill>
              </a:rPr>
              <a:t>RAG-AuthAware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468880" y="2688336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2468880" y="268833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7"/>
                </a:solidFill>
              </a:rPr>
              <a:t>0.938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72000" y="2688336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0" y="268833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</a:rPr>
              <a:t>0.509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675120" y="2688336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675120" y="268833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7"/>
                </a:solidFill>
              </a:rPr>
              <a:t>0.927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65760" y="3401568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22C55E">
              <a:alpha val="7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474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Two-Way ANOVA — Main Effects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38404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</a:rPr>
              <a:t>Condition on Correctness: F(2,150)=8.87, p&lt;0.001 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</a:rPr>
              <a:t>Category: F(4,150)=3.32, p=0.012 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</a:rPr>
              <a:t>Condition×Category interaction: F(8,150)=0.51, p=0.847 (ns)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26280" y="3401568"/>
            <a:ext cx="4251960" cy="1417320"/>
          </a:xfrm>
          <a:prstGeom prst="roundRect">
            <a:avLst>
              <a:gd name="adj" fmla="val 6452"/>
            </a:avLst>
          </a:prstGeom>
          <a:solidFill>
            <a:srgbClr val="F59E0B">
              <a:alpha val="13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34747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Key Finding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617720" y="3840480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</a:rPr>
              <a:t>RAG-AuthAware scores A=0.100 on C-category — lower than both Baseline (0.200) and RAG-Standard (0.200). The re-ranker designed to help is hurting on the conflict category.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" y="4480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Results — RQ2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057"/>
                </a:solidFill>
              </a:rPr>
              <a:t>RQ2: Does Correctness Degrade With Source Count?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005840"/>
            <a:ext cx="502920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611880"/>
            <a:ext cx="5029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11480" y="3474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0.25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2743200"/>
            <a:ext cx="5029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11480" y="2606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0.50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1874520"/>
            <a:ext cx="5029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11480" y="1737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0.75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3552810"/>
            <a:ext cx="2514600" cy="-347472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3205338"/>
            <a:ext cx="2514600" cy="754014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488802"/>
            <a:ext cx="128016" cy="12801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3141330"/>
            <a:ext cx="128016" cy="12801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79592" y="3895344"/>
            <a:ext cx="128016" cy="12801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2048256"/>
            <a:ext cx="2514600" cy="347472"/>
          </a:xfrm>
          <a:prstGeom prst="line">
            <a:avLst/>
          </a:prstGeom>
          <a:noFill/>
          <a:ln w="31750">
            <a:solidFill>
              <a:srgbClr val="4A6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2395728"/>
            <a:ext cx="2514600" cy="694944"/>
          </a:xfrm>
          <a:prstGeom prst="line">
            <a:avLst/>
          </a:prstGeom>
          <a:noFill/>
          <a:ln w="31750">
            <a:solidFill>
              <a:srgbClr val="4A6F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" y="1984248"/>
            <a:ext cx="128016" cy="128016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64992" y="2331720"/>
            <a:ext cx="128016" cy="128016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79592" y="3026664"/>
            <a:ext cx="128016" cy="128016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2281062"/>
            <a:ext cx="2514600" cy="229332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2510394"/>
            <a:ext cx="2514600" cy="580278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" y="2217054"/>
            <a:ext cx="128016" cy="128016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64992" y="2446386"/>
            <a:ext cx="128016" cy="128016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79592" y="3026664"/>
            <a:ext cx="128016" cy="128016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526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 source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(S)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063240" y="4526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 sources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(M2)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77840" y="4526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 sources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(M3)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" y="5029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Number of Required Source Documents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1481328"/>
            <a:ext cx="36576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28232" y="1417320"/>
            <a:ext cx="128016" cy="12801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</a:rPr>
              <a:t>Baseline-LLM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1984248"/>
            <a:ext cx="365760" cy="0"/>
          </a:xfrm>
          <a:prstGeom prst="line">
            <a:avLst/>
          </a:prstGeom>
          <a:noFill/>
          <a:ln w="31750">
            <a:solidFill>
              <a:srgbClr val="4A6FA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28232" y="1920240"/>
            <a:ext cx="128016" cy="128016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1874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</a:rPr>
              <a:t>RAG-Standard (-0.146/source)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2487168"/>
            <a:ext cx="365760" cy="0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28232" y="2423160"/>
            <a:ext cx="128016" cy="128016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</a:rPr>
              <a:t>RAG-AuthAware (-0.113/source)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72200" y="301752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4A6FA5">
              <a:alpha val="7000"/>
            </a:srgbClr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310896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</a:rPr>
              <a:t>No slope reaches p&lt;0.05, but all three are negative and RAG-Standard is steepest (-0.146). Consistent with retrieval conditions having more to lose as source count grows.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</a:rPr>
              <a:t>κ=0.887 inter-rater agreement confirms scoring reliability.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" y="4480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Results — RQ3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057"/>
                </a:solidFill>
              </a:rPr>
              <a:t>RQ3: Does Re-Ranking Resolve Authority Conflicts?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4057"/>
                </a:solidFill>
              </a:rPr>
              <a:t>Both RAG conditions score SAA=0.600 on C-category — tied. But correctness diverges (0.200 vs 0.100).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4057"/>
                </a:solidFill>
              </a:rPr>
              <a:t>C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88720" y="2606040"/>
            <a:ext cx="822960" cy="13716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2860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6FA5"/>
                </a:solidFill>
              </a:rPr>
              <a:t>0.60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0050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FA5"/>
                </a:solidFill>
              </a:rPr>
              <a:t>RAG-Std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94560" y="2606040"/>
            <a:ext cx="822960" cy="137160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22860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5B"/>
                </a:solidFill>
              </a:rPr>
              <a:t>0.60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40050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5B"/>
                </a:solidFill>
              </a:rPr>
              <a:t>RAG-Auth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4057"/>
                </a:solidFill>
              </a:rPr>
              <a:t>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9120" y="2148840"/>
            <a:ext cx="822960" cy="18288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828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6FA5"/>
                </a:solidFill>
              </a:rPr>
              <a:t>0.80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40050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FA5"/>
                </a:solidFill>
              </a:rPr>
              <a:t>RAG-Std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94960" y="2148840"/>
            <a:ext cx="822960" cy="182880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828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5B"/>
                </a:solidFill>
              </a:rPr>
              <a:t>0.80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0" y="40050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5B"/>
                </a:solidFill>
              </a:rPr>
              <a:t>RAG-Auth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97764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960120"/>
            <a:ext cx="2514600" cy="3977640"/>
          </a:xfrm>
          <a:prstGeom prst="roundRect">
            <a:avLst>
              <a:gd name="adj" fmla="val 3636"/>
            </a:avLst>
          </a:prstGeom>
          <a:solidFill>
            <a:srgbClr val="F59E0B">
              <a:alpha val="7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051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C-Category Chunk Audit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150876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15544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C-01, C-02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1828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7"/>
                </a:solidFill>
              </a:rPr>
              <a:t>Institutional source never in top-5 either condition → pure retrieval failure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260604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26517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C-03, C-05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7960" y="29260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7"/>
                </a:solidFill>
              </a:rPr>
              <a:t>Institutional at rank 1 under Std → pushed to rank 2–3 by re-ranker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92240" y="370332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37490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C-04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37960" y="40233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7"/>
                </a:solidFill>
              </a:rPr>
              <a:t>Federal IS correct answer → re-ranker correctly promotes it to rank 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SAA only checks presence, not rank — so it can't detect the re-ranking regression.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" y="4480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Key Finding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057"/>
                </a:solidFill>
              </a:rPr>
              <a:t>Faithfulness ≠ Correctness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4057"/>
                </a:solidFill>
              </a:rPr>
              <a:t>A 0.40 gap across all RAG runs. F=1.00 and A=0 on the same answer.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6FA5"/>
                </a:solidFill>
              </a:rPr>
              <a:t>RAG-Standard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2718328" cy="457200"/>
          </a:xfrm>
          <a:prstGeom prst="rect">
            <a:avLst/>
          </a:prstGeom>
          <a:solidFill>
            <a:srgbClr val="22C55E">
              <a:alpha val="53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057"/>
                </a:solidFill>
              </a:rPr>
              <a:t>Faithfulness (F): 0.929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1594714" cy="457200"/>
          </a:xfrm>
          <a:prstGeom prst="rect">
            <a:avLst/>
          </a:prstGeom>
          <a:solidFill>
            <a:srgbClr val="4A6FA5">
              <a:alpha val="53000"/>
            </a:srgbClr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057"/>
                </a:solidFill>
              </a:rPr>
              <a:t>Correctness (A): 0.545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43354" y="2651760"/>
            <a:ext cx="1123615" cy="228600"/>
          </a:xfrm>
          <a:prstGeom prst="rect">
            <a:avLst/>
          </a:prstGeom>
          <a:solidFill>
            <a:srgbClr val="EF4444">
              <a:alpha val="27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3354" y="2926080"/>
            <a:ext cx="1580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Gap ≈ 0.38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261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B"/>
                </a:solidFill>
              </a:rPr>
              <a:t>RAG-AuthAware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737360"/>
            <a:ext cx="2744663" cy="457200"/>
          </a:xfrm>
          <a:prstGeom prst="rect">
            <a:avLst/>
          </a:prstGeom>
          <a:solidFill>
            <a:srgbClr val="22C55E">
              <a:alpha val="53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057"/>
                </a:solidFill>
              </a:rPr>
              <a:t>Faithfulness (F): 0.938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2651760"/>
            <a:ext cx="1489375" cy="457200"/>
          </a:xfrm>
          <a:prstGeom prst="rect">
            <a:avLst/>
          </a:prstGeom>
          <a:solidFill>
            <a:srgbClr val="4A6FA5">
              <a:alpha val="53000"/>
            </a:srgbClr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651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057"/>
                </a:solidFill>
              </a:rPr>
              <a:t>Correctness (A): 0.509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35695" y="2651760"/>
            <a:ext cx="1255288" cy="228600"/>
          </a:xfrm>
          <a:prstGeom prst="rect">
            <a:avLst/>
          </a:prstGeom>
          <a:solidFill>
            <a:srgbClr val="EF4444">
              <a:alpha val="27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5695" y="2926080"/>
            <a:ext cx="1712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Gap ≈ 0.43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474720"/>
            <a:ext cx="8412480" cy="1463040"/>
          </a:xfrm>
          <a:prstGeom prst="roundRect">
            <a:avLst>
              <a:gd name="adj" fmla="val 6250"/>
            </a:avLst>
          </a:prstGeom>
          <a:solidFill>
            <a:srgbClr val="EF4444">
              <a:alpha val="7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54787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Case study: S-01 under RAG-AuthAware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913632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</a:rPr>
              <a:t>Question: "What is the maximum Pell Grant for 2025–26?"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</a:rPr>
              <a:t>F = 1.00 (every claim grounded in context)  ·  A = 0 (answer is wrong — does not state $7,395)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</a:rPr>
              <a:t>Why: Re-ranker promoted vol7_ch2 methodology chunk (explains how award is calculated)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</a:rPr>
              <a:t>over pell_grant.txt consumer chunk (contains the actual $7,395 figure).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</a:rPr>
              <a:t>Faithfulness measures grounding — not whether the grounded context was sufficient.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" y="4480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Design Recommendations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057"/>
                </a:solidFill>
              </a:rPr>
              <a:t>Four Recommendations for Production Systems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000000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115568"/>
            <a:ext cx="411480" cy="41148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097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6FA5"/>
                </a:solidFill>
              </a:rPr>
              <a:t>Category-Aware Re-Ranking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60020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</a:rPr>
              <a:t>Condition re-ranking priority on a lightweight question-type classifier. Suppress federal-priority promotion when the question is contradiction-seeking. Current uniform re-ranking helps T-category but harms C-category.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000000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18888" y="1115568"/>
            <a:ext cx="411480" cy="4114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4" name="Text 12"/>
          <p:cNvSpPr/>
          <p:nvPr/>
        </p:nvSpPr>
        <p:spPr>
          <a:xfrm>
            <a:off x="4818888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1097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</a:rPr>
              <a:t>Chunk-Level Sufficiency Check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</a:rPr>
              <a:t>Before generation, verify the retrieved context actually contains an answerable fact — not just a topically related passage. Catches the S-01 failure class before it reaches the user.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00000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3172968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31729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154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Multi-Source Completeness Check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65760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</a:rPr>
              <a:t>For M3-style questions, verify all required source types were retrieved before generating. Fall back to 'insufficient information' rather than a partial answer when a required source is missing.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3063240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00000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18888" y="3172968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4818888" y="31729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3154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Rank-Sensitive Authority Metric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365760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</a:rPr>
              <a:t>Replace the presence-only SAA metric with reciprocal rank of the expected authority. Current SAA tied both conditions at 0.600 on C-category — unable to detect the re-ranking regression that chunk-order inspection revealed.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" y="4480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Limitations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057"/>
                </a:solidFill>
              </a:rPr>
              <a:t>Limitations &amp; Future Directions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Limitations (6)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0" cy="40233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960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</a:rPr>
              <a:t>Future Directions (5)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41732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7"/>
                </a:solidFill>
              </a:rPr>
              <a:t>Single LLM (gpt-4o-mini) — may not generalise to larger models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993392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7"/>
                </a:solidFill>
              </a:rPr>
              <a:t>Three universities only — institutional conflicts may vary nationally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569464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7"/>
                </a:solidFill>
              </a:rPr>
              <a:t>English-only corpus and benchmark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145536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7"/>
                </a:solidFill>
              </a:rPr>
              <a:t>Human annotation with 25% verified sample (κ=0.887)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721608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7"/>
                </a:solidFill>
              </a:rPr>
              <a:t>Synthetic corpus — not an organically occurring production index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29768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7"/>
                </a:solidFill>
              </a:rPr>
              <a:t>No user study — unknown whether students detect faithful-but-wrong answers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4173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7"/>
                </a:solidFill>
              </a:rPr>
              <a:t>Extend benchmark to multiple LLMs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13055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7"/>
                </a:solidFill>
              </a:rPr>
              <a:t>Build and evaluate category-aware re-ranker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843784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7"/>
                </a:solidFill>
              </a:rPr>
              <a:t>Rank-sensitive SAA metric (reciprocal rank)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557016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7"/>
                </a:solidFill>
              </a:rPr>
              <a:t>User study: can students detect authority errors?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427024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7"/>
                </a:solidFill>
              </a:rPr>
              <a:t>T-category systematic chunk-order audit (analogous to C-category audit in Section V-C)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4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000000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8755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FA5"/>
                </a:solidFill>
              </a:rPr>
              <a:t>RQ1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RAG improves correctness (0.545 vs. 0.255, F(2,150)=8.87, p&lt;0.001) but the gain is category-dependent and disappears on contradictory-source questions.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000000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7627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</a:rPr>
              <a:t>RQ2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14884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Correctness declines with source count across all conditions (steepest: RAG-Standard, slope=−0.146). No slope reaches p&lt;0.05 at this sample size.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00000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36499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RQ3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33756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Authority-aware re-ranking helps temporal conflicts but is tied with standard RAG on SAA for C-category — and demonstrably pushes the correct institutional source down in rank for 2 of 5 C-category questions.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9E0B"/>
                </a:solidFill>
              </a:rPr>
              <a:t>Four contributions: benchmark · pipeline · F≠A demonstration · uniform re-ranking is a double-edged choice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B5CC"/>
                </a:solidFill>
              </a:rPr>
              <a:t>github.com/wilderotterc/isue-research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4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</a:rPr>
              <a:t>Questions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59E0B"/>
                </a:solidFill>
              </a:rPr>
              <a:t>Thank you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0" y="3246120"/>
            <a:ext cx="3657600" cy="0"/>
          </a:xfrm>
          <a:prstGeom prst="line">
            <a:avLst/>
          </a:prstGeom>
          <a:noFill/>
          <a:ln w="12700">
            <a:solidFill>
              <a:srgbClr val="4A6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B5CC"/>
                </a:solidFill>
              </a:rPr>
              <a:t>Caleb Wilderotter  ·  cwilderotter@kean.edu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github.com/wilderotterc/isue-research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42976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B5CC"/>
                </a:solidFill>
              </a:rPr>
              <a:t>165 runs  ·  3 conditions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42976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B5CC"/>
                </a:solidFill>
              </a:rPr>
              <a:t>55 questions  ·  5 categories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47091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B5CC"/>
                </a:solidFill>
              </a:rPr>
              <a:t>κ = 0.887  ·  inter-rater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47091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B5CC"/>
                </a:solidFill>
              </a:rPr>
              <a:t>1,641 chunks  ·  5 authority tiers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Multi-Document RAG for Financial Aid Guidance</dc:title>
  <dc:subject>PptxGenJS Presentation</dc:subject>
  <dc:creator>Caleb Wilderotter</dc:creator>
  <cp:lastModifiedBy>Caleb Wilderotter</cp:lastModifiedBy>
  <cp:revision>1</cp:revision>
  <dcterms:created xsi:type="dcterms:W3CDTF">2026-07-03T15:35:41Z</dcterms:created>
  <dcterms:modified xsi:type="dcterms:W3CDTF">2026-07-03T15:35:41Z</dcterms:modified>
</cp:coreProperties>
</file>